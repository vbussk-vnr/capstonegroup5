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62" r:id="rId4"/>
    <p:sldId id="271" r:id="rId5"/>
    <p:sldId id="266" r:id="rId6"/>
    <p:sldId id="267" r:id="rId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74" d="100"/>
          <a:sy n="74" d="100"/>
        </p:scale>
        <p:origin x="84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E2B247-ADE2-F793-6ADE-4389BE324C2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71FD12-95AA-EC8E-9CEC-C46779BFEDB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8D42C-005B-387B-549C-11958A0F58E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CFA49-B4EE-5AF1-4A4F-14ECFC9F12F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4402D5C-2786-D944-9381-95F3F812705E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01087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21AEA-6D0B-908A-3EB9-42053C783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C2559-4983-C1F1-BFC9-71F235DCE03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1FE8080-29DD-5F1A-7CCC-ED29A1C1D3A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2AD72-63A6-0F5B-E062-3A20F3F28641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34B55-1AB0-3D45-306E-C057414D3E1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77851-565C-6665-20A6-52DF5ACF5B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636D5D11-7769-BB44-9278-DA72C56EB5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6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oto Sans Devanagar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B9DA4-C329-CC23-4F9A-906FA2E423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249285A-8CB5-B741-9122-3B63F47AA318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09038-1F57-5E0C-60C1-4E15AFEDBA2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AA67D-97EB-3F66-2EFC-ABE0954F15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2C640-DE09-42EB-DE98-14B27B508B3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20CFF3D-5E1B-6F45-8DD3-74A0A7D9D03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E4065-FF67-5EB9-5691-2D37303EEF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9AAC0-82B5-D572-CFA6-CB613248CD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4700E-0391-26F9-22E2-ADB06FD9138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05D640-8123-A042-8000-AF5118750BD2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BC354-A555-CCDA-0065-DF56BD4C62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8113-D2BA-1A1D-EB1B-51001EEA62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291B-C884-5CFF-D113-5F433882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F71E0-B043-73D0-1AC9-86758C90F9E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05D640-8123-A042-8000-AF5118750BD2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3BB69-3FA5-A331-FD16-09E184FCD7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79E83-53C5-2284-589A-7F16CA1B5C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65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44C1A-35A6-726C-C2A1-A7D80D94743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3BDD349-A0BB-F345-BD4C-4D7A04D78688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8DD6F-6478-59B3-2965-3E53ADA244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25C18-BF31-FCD5-8428-9BD6649C02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29DFF-6E00-A333-3034-725E1BA264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57AB3C0-F281-D749-AFE0-BBE599A75A4A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8AB82-9E65-979D-1903-D2FEC7E2C6C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9E3DD-076B-7B64-3A3A-F8717A3898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5E50-2819-312D-DF40-49D3C7456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66518-CA39-EEDA-289C-C83586278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305BB-4807-4A2B-50E6-DC7F5E72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E2A46-05B2-A4D4-A419-8E707454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D42FE-45BD-65A0-8539-1B96E9DB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055B15-1974-444E-83E8-165797ACE4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9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2662-0E1A-3B86-D91F-EB8DFF46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2A1FE-385D-A43F-5578-2D6D49E8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48D6A-5C10-4D7E-8CF3-8D7E4280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8696F-7509-5DB0-5228-2C43D336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8964C-8DC3-8E8F-CC78-70FC78ED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C1BA79-F6B8-2B4A-BEC0-CDB5766AC5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5C04-EA5E-5E8F-ECEB-BC30DFA5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6BE1E-C629-06CF-7F76-FB8228A69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10D1B-1948-FDA4-496D-363203C1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347A-D500-405F-319F-86512194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9285-3A0F-6A18-801C-6D11D322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048D94-9F8D-E747-848D-BE4B561CD5C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7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7025-6B20-4CF2-A4C2-F022453B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D7B9-EB2A-492F-849B-0C42D56B3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B8C50-EDB8-0354-9E0B-DBBCDF8D1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38278-6D37-9AD0-246A-4A1EA68C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84A52-F796-BC4D-D22C-E9D330EB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ABAE9-E4C3-4BED-3D7B-7C4987B3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AB49DB-7B87-974A-B306-51264C6008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2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246-A452-9CBE-7EFC-2EEE1984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96AF4-C5A7-8DB4-D6F2-E0A8EC50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46098-5C69-824E-2DD7-1B4EF5065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E789E-A94C-C2F2-9C7F-D765F40FD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C1FA1-C19B-E314-8DD9-5F0229A0AE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6605A-A64E-5F18-59D6-1283C464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9400F-3A87-27C8-8D5D-360D5C28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AB044A-E2EA-8260-5991-7696BBA7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129094-F18E-0847-9A55-6CFB47A24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8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9B9A-782C-AD87-C475-0F48E63E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9098D-A071-9633-33BE-64C11649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FAF10-D758-9410-7CFC-250DDD8D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BF1D5-9336-0DFE-4179-D702C904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783F5F-3980-4A4A-ACFA-8C6D7A751F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35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BB3306-98D3-A41A-6F49-3703C06C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68F56-BBB8-EC7E-0A44-B58746FC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2C7EF-B466-E540-2BED-2A4ABE0B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0FA457-160A-5840-984F-32CE7B4C45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79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34E0-4951-E157-E968-F227C8345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25B9A-8C3E-A8D1-BEE7-ACA0FAF92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0A0E0-F774-70F8-D65B-7783A2ABD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DC4FE-0732-DC78-3140-F5BFF4E98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A7D60-3660-CEAD-041B-0334D769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1C983-5359-0399-0F51-51543A13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C12503-AD84-C04B-821F-62C6100E95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C725-006D-AA81-6BD7-26C0E26F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85550-D7BF-21EF-E081-9E681C800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EF0CA-FBA4-73F0-B4FF-80856A96A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CC584-C834-155A-9912-85A71AA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BB6B3-0D42-E3F8-CF72-8BE80514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5161F-268C-F9BF-BBA1-72C76B72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39D539-ECC6-9249-88A9-6353664083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1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7783-C083-4241-4C06-8FB8EE9E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20E6A-E2DC-1819-32FC-AB1984862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3882-61B5-2BB0-2863-5B7CFB3C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941EF-E15F-A911-2199-AB373EFA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DEDB-32BE-0145-3B46-55B013D5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0E7ECB-3F9C-F44B-AA88-FFF0B57F2F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EE06E-9E23-1AC6-D660-06C646604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D26ED-35F4-D75F-7625-E842CEECE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C698F-E042-119F-B6BE-7C78F6547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9E6DD-E98C-7F7E-4AD9-0C7B2E17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96D5D-AED7-E528-1877-492051D0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E017512-6C64-8342-8EFF-09157BBDE8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4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26195-7398-F62D-EC0D-6D3A963073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F8BD1-EC71-F600-590C-035960AAA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1B49D-D481-B0C3-6ED1-9E876DD9514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07C1E-F622-8F4C-E133-4E06DF454A3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2381-D8C5-E412-271D-135E198062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11930388-5A9E-B34A-8D43-FE47073D25F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FADA-50AA-EB95-962D-5CAA338287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769680"/>
            <a:ext cx="9071640" cy="1875239"/>
          </a:xfrm>
        </p:spPr>
        <p:txBody>
          <a:bodyPr vert="horz"/>
          <a:lstStyle/>
          <a:p>
            <a:pPr lvl="0" rtl="0"/>
            <a:r>
              <a:rPr lang="en-US" b="1"/>
              <a:t>Evaluation of RAG Systems </a:t>
            </a:r>
            <a:br>
              <a:rPr lang="en-US" b="1"/>
            </a:br>
            <a:r>
              <a:rPr lang="en-US" b="1"/>
              <a:t>using </a:t>
            </a:r>
            <a:br>
              <a:rPr lang="en-US" b="1"/>
            </a:br>
            <a:r>
              <a:rPr lang="en-US" b="1"/>
              <a:t>the RGB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524E-C47D-0AFB-3C0E-F98ABA8BA6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l" rtl="0" hangingPunct="0"/>
            <a:r>
              <a:rPr lang="en-US" sz="3200" b="1" kern="1200" dirty="0">
                <a:highlight>
                  <a:scrgbClr r="0" g="0" b="0">
                    <a:alpha val="0"/>
                  </a:scrgbClr>
                </a:highlight>
                <a:latin typeface="+mn-lt"/>
              </a:rPr>
              <a:t>Objective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014B7AC-D9A4-8124-D2E8-0CAFDA3EE580}"/>
              </a:ext>
            </a:extLst>
          </p:cNvPr>
          <p:cNvSpPr txBox="1">
            <a:spLocks/>
          </p:cNvSpPr>
          <p:nvPr/>
        </p:nvSpPr>
        <p:spPr>
          <a:xfrm>
            <a:off x="276837" y="1166676"/>
            <a:ext cx="9071640" cy="7558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359" indent="-179640">
              <a:tabLst>
                <a:tab pos="900718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+mn-lt"/>
              </a:rPr>
              <a:t>To systematically evaluate how well Large Language Models (LLMs) perform when using RAG.</a:t>
            </a:r>
          </a:p>
          <a:p>
            <a:pPr marL="450359" indent="-179640">
              <a:tabLst>
                <a:tab pos="900718" algn="l"/>
              </a:tabLst>
            </a:pPr>
            <a:r>
              <a:rPr lang="en-US" sz="1400" dirty="0">
                <a:solidFill>
                  <a:sysClr val="windowText" lastClr="000000"/>
                </a:solidFill>
                <a:latin typeface="+mn-lt"/>
              </a:rPr>
              <a:t>It highlights four fundamental abilities required for effective RAG, which are: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B76D2BF-3F10-CEDE-2C1E-AA6719428727}"/>
              </a:ext>
            </a:extLst>
          </p:cNvPr>
          <p:cNvSpPr txBox="1">
            <a:spLocks/>
          </p:cNvSpPr>
          <p:nvPr/>
        </p:nvSpPr>
        <p:spPr>
          <a:xfrm>
            <a:off x="276837" y="2026578"/>
            <a:ext cx="9071640" cy="136297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6469" indent="-28575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Noise Robustness 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– How well the model handles irrelevant or noisy retrieved documents.</a:t>
            </a:r>
          </a:p>
          <a:p>
            <a:pPr marL="556469" indent="-28575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Negative Rejection 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– Whether the model properly identifies when retrieved context does not contain the answer.</a:t>
            </a:r>
          </a:p>
          <a:p>
            <a:pPr marL="556469" indent="-28575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Information Integration 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– The model’s ability to merge and reason over multiple retrieved pieces of information.</a:t>
            </a:r>
          </a:p>
          <a:p>
            <a:pPr marL="556469" indent="-28575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Counterfactual Robustness 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– Whether the model can avoid being misled by incorrect or conflicting retrieved information.</a:t>
            </a:r>
          </a:p>
          <a:p>
            <a:pPr marL="450359" indent="-179640">
              <a:tabLst>
                <a:tab pos="900718" algn="l"/>
              </a:tabLst>
            </a:pPr>
            <a:endParaRPr lang="en-US" sz="1600" dirty="0">
              <a:solidFill>
                <a:sysClr val="windowText" lastClr="000000"/>
              </a:solidFill>
              <a:latin typeface="+mn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798FAB7-D0E1-5C2A-7678-59C4DF305B92}"/>
              </a:ext>
            </a:extLst>
          </p:cNvPr>
          <p:cNvSpPr txBox="1">
            <a:spLocks/>
          </p:cNvSpPr>
          <p:nvPr/>
        </p:nvSpPr>
        <p:spPr>
          <a:xfrm>
            <a:off x="503999" y="3579200"/>
            <a:ext cx="9071640" cy="49183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</a:lstStyle>
          <a:p>
            <a:pPr marL="0" lvl="2" algn="l" rtl="0" hangingPunct="0"/>
            <a:r>
              <a:rPr lang="en-US" sz="2000" b="1" kern="1200" dirty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  <a:latin typeface="+mn-lt"/>
              </a:rPr>
              <a:t>Models Evaluated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BDE0745-3C42-2B31-7CB6-78DCBF403807}"/>
              </a:ext>
            </a:extLst>
          </p:cNvPr>
          <p:cNvSpPr txBox="1">
            <a:spLocks/>
          </p:cNvSpPr>
          <p:nvPr/>
        </p:nvSpPr>
        <p:spPr>
          <a:xfrm>
            <a:off x="276837" y="4315422"/>
            <a:ext cx="4153772" cy="10216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Phi-3.5-Mini-Instruct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 (~3.8B parameters)</a:t>
            </a:r>
          </a:p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Qwen-2.5-7B-Instruct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 (7B parameters)</a:t>
            </a:r>
          </a:p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b="1" dirty="0">
                <a:solidFill>
                  <a:sysClr val="windowText" lastClr="000000"/>
                </a:solidFill>
                <a:latin typeface="+mn-lt"/>
              </a:rPr>
              <a:t>Mistral-7B-Instruct-v0.3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 (7B parameters)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06AD93A-EF20-CA67-3E41-A9E1E8C3F297}"/>
              </a:ext>
            </a:extLst>
          </p:cNvPr>
          <p:cNvSpPr txBox="1">
            <a:spLocks/>
          </p:cNvSpPr>
          <p:nvPr/>
        </p:nvSpPr>
        <p:spPr>
          <a:xfrm>
            <a:off x="5317527" y="3579199"/>
            <a:ext cx="4153772" cy="49183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</a:lstStyle>
          <a:p>
            <a:pPr marL="0" lvl="2" rtl="0" hangingPunct="0"/>
            <a:r>
              <a:rPr lang="en-US" sz="2000" b="1" kern="1200" dirty="0">
                <a:solidFill>
                  <a:sysClr val="windowText" lastClr="000000"/>
                </a:solidFill>
                <a:highlight>
                  <a:scrgbClr r="0" g="0" b="0">
                    <a:alpha val="0"/>
                  </a:scrgbClr>
                </a:highlight>
              </a:rPr>
              <a:t>Experimental Setup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A674E1E-1616-E015-482F-C39D4EFC2523}"/>
              </a:ext>
            </a:extLst>
          </p:cNvPr>
          <p:cNvSpPr txBox="1">
            <a:spLocks/>
          </p:cNvSpPr>
          <p:nvPr/>
        </p:nvSpPr>
        <p:spPr>
          <a:xfrm>
            <a:off x="5039819" y="4315422"/>
            <a:ext cx="4153772" cy="10216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6469" indent="-28575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Zero-shot evaluation</a:t>
            </a:r>
          </a:p>
          <a:p>
            <a:pPr marL="556469" indent="-28575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Fixed prompts</a:t>
            </a:r>
          </a:p>
          <a:p>
            <a:pPr marL="556469" indent="-28575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Google </a:t>
            </a:r>
            <a:r>
              <a:rPr lang="en-US" sz="1200" dirty="0" err="1">
                <a:solidFill>
                  <a:sysClr val="windowText" lastClr="000000"/>
                </a:solidFill>
                <a:latin typeface="+mn-lt"/>
              </a:rPr>
              <a:t>Colab</a:t>
            </a:r>
            <a:r>
              <a:rPr lang="en-US" sz="1200" dirty="0">
                <a:solidFill>
                  <a:sysClr val="windowText" lastClr="000000"/>
                </a:solidFill>
                <a:latin typeface="+mn-lt"/>
              </a:rPr>
              <a:t> 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EC13-2414-93B2-9058-8B2E47CF45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l" rtl="0" hangingPunct="0"/>
            <a:r>
              <a:rPr lang="en-US" sz="3200" b="1" kern="1200" dirty="0">
                <a:highlight>
                  <a:scrgbClr r="0" g="0" b="0">
                    <a:alpha val="0"/>
                  </a:scrgbClr>
                </a:highlight>
                <a:latin typeface="+mn-lt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067A2-4BF1-E32A-7D15-CDD3B98DF5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78135" y="3949674"/>
            <a:ext cx="2436260" cy="1106049"/>
          </a:xfrm>
        </p:spPr>
        <p:txBody>
          <a:bodyPr vert="horz">
            <a:normAutofit/>
          </a:bodyPr>
          <a:lstStyle/>
          <a:p>
            <a:pPr marL="442169" lvl="0" indent="-17145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/>
              <a:t>Mistral strongest</a:t>
            </a:r>
          </a:p>
          <a:p>
            <a:pPr marL="442169" lvl="0" indent="-17145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/>
              <a:t>Qwen close behind</a:t>
            </a:r>
          </a:p>
          <a:p>
            <a:pPr marL="442169" lvl="0" indent="-17145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/>
              <a:t>Phi drops faster with noise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3812F-576A-56B7-A1BA-FF51667A8F4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2951" y="1055708"/>
            <a:ext cx="3667893" cy="2771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9DC049-6662-186C-E9BA-83699B11F2D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040312" y="990097"/>
            <a:ext cx="3907209" cy="28370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7A98E0-72E0-82A8-0C11-19F71E0D925E}"/>
              </a:ext>
            </a:extLst>
          </p:cNvPr>
          <p:cNvSpPr txBox="1">
            <a:spLocks/>
          </p:cNvSpPr>
          <p:nvPr/>
        </p:nvSpPr>
        <p:spPr>
          <a:xfrm>
            <a:off x="5279628" y="3965703"/>
            <a:ext cx="3667893" cy="132170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</a:rPr>
              <a:t>Qwen best at rejecting</a:t>
            </a:r>
          </a:p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</a:rPr>
              <a:t>Mistral / Phi most prone to hallucination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A06E-453D-4E09-75C8-619BE5C1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2A35-15D5-F63E-A576-517B18D726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l" rtl="0" hangingPunct="0"/>
            <a:r>
              <a:rPr lang="en-US" sz="3200" b="1" kern="1200" dirty="0">
                <a:highlight>
                  <a:scrgbClr r="0" g="0" b="0">
                    <a:alpha val="0"/>
                  </a:scrgbClr>
                </a:highlight>
                <a:latin typeface="+mn-lt"/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81D2C0-1B7E-F536-0BB4-7E304B9DE1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78135" y="1026835"/>
            <a:ext cx="3558396" cy="28370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A58D324-1019-B915-5B4E-30BD0C0A1E2A}"/>
              </a:ext>
            </a:extLst>
          </p:cNvPr>
          <p:cNvSpPr txBox="1">
            <a:spLocks/>
          </p:cNvSpPr>
          <p:nvPr/>
        </p:nvSpPr>
        <p:spPr>
          <a:xfrm>
            <a:off x="1133104" y="3930341"/>
            <a:ext cx="3907208" cy="8831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>
                <a:solidFill>
                  <a:sysClr val="windowText" lastClr="000000"/>
                </a:solidFill>
              </a:rPr>
              <a:t>All models struggle</a:t>
            </a:r>
          </a:p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>
                <a:solidFill>
                  <a:sysClr val="windowText" lastClr="000000"/>
                </a:solidFill>
              </a:rPr>
              <a:t>Mistral performs best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E35A2D-593E-4EF7-C017-69A4F0AA9C9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279628" y="1026835"/>
            <a:ext cx="3754790" cy="2837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F8BEF9D-27ED-C6C8-8064-E75F6607CDA3}"/>
              </a:ext>
            </a:extLst>
          </p:cNvPr>
          <p:cNvSpPr txBox="1">
            <a:spLocks/>
          </p:cNvSpPr>
          <p:nvPr/>
        </p:nvSpPr>
        <p:spPr>
          <a:xfrm>
            <a:off x="5509377" y="3930341"/>
            <a:ext cx="3295292" cy="77637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en-US" sz="32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cs typeface="Noto Sans Devanagari" pitchFamily="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</a:rPr>
              <a:t>All models score 0.0  ~0.01</a:t>
            </a:r>
          </a:p>
          <a:p>
            <a:pPr marL="450359" indent="-179640" rtl="0">
              <a:buFont typeface="Arial" panose="020B0604020202020204" pitchFamily="34" charset="0"/>
              <a:buChar char="•"/>
              <a:tabLst>
                <a:tab pos="900718" algn="l"/>
              </a:tabLst>
            </a:pPr>
            <a:r>
              <a:rPr lang="en-US" sz="1200" dirty="0">
                <a:solidFill>
                  <a:sysClr val="windowText" lastClr="000000"/>
                </a:solidFill>
              </a:rPr>
              <a:t>No contradiction detection</a:t>
            </a:r>
          </a:p>
        </p:txBody>
      </p:sp>
    </p:spTree>
    <p:extLst>
      <p:ext uri="{BB962C8B-B14F-4D97-AF65-F5344CB8AC3E}">
        <p14:creationId xmlns:p14="http://schemas.microsoft.com/office/powerpoint/2010/main" val="360686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67E4-1E2B-C10A-693F-72FA77D209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2" algn="l" rtl="0" hangingPunct="0"/>
            <a:r>
              <a:rPr lang="en-US" sz="3200" b="1" kern="1200" dirty="0">
                <a:highlight>
                  <a:scrgbClr r="0" g="0" b="0">
                    <a:alpha val="0"/>
                  </a:scrgbClr>
                </a:highlight>
                <a:latin typeface="+mn-lt"/>
              </a:rPr>
              <a:t>Key Takeaways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A41949-A8E6-2B6C-D419-B44E4394A2C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62643" y="1406764"/>
            <a:ext cx="7604183" cy="12279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3199F4-F8B1-1AC6-8BB1-33AAA3A94314}"/>
              </a:ext>
            </a:extLst>
          </p:cNvPr>
          <p:cNvSpPr txBox="1"/>
          <p:nvPr/>
        </p:nvSpPr>
        <p:spPr>
          <a:xfrm>
            <a:off x="862643" y="3035826"/>
            <a:ext cx="79535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US" sz="1400" dirty="0"/>
              <a:t>This demonstrates that modern open-source LLMs exhibit strong robustness to noisy and incomplete information in RAG settings, particularly Mistral-7B and Qwen-2.5-7B.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US" sz="1400" dirty="0"/>
              <a:t>However, all evaluated models fail to achieve counterfactual robustness, highlighting a significant unresolved challenge.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US" sz="1400" dirty="0"/>
              <a:t>Addressing factual inconsistency detection and correction is essential for deploying reliable and trustworthy RAG systems in real-world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7265D9-31D2-74B1-E05B-341FED589A2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279" y="3272400"/>
            <a:ext cx="891792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7E972-FD6F-E2C9-8B00-80CEE63F5D74}"/>
              </a:ext>
            </a:extLst>
          </p:cNvPr>
          <p:cNvSpPr txBox="1"/>
          <p:nvPr/>
        </p:nvSpPr>
        <p:spPr>
          <a:xfrm>
            <a:off x="457200" y="228600"/>
            <a:ext cx="2645640" cy="346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Analysis and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FC806-9463-8F20-615B-248A8BD57C3E}"/>
              </a:ext>
            </a:extLst>
          </p:cNvPr>
          <p:cNvSpPr txBox="1"/>
          <p:nvPr/>
        </p:nvSpPr>
        <p:spPr>
          <a:xfrm>
            <a:off x="349200" y="493200"/>
            <a:ext cx="9372600" cy="27853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Noise Robustness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Mistral-7B demonstrates the strongest robustness to noisy contexts, maintaining high accuracy even when up to 80% of the documents are irrelevant.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Qwen-2.5-7B also performs well but shows slightly greater degradation.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Phi-3.5-Mini is more sensitive to noise, likely due to its smaller parameter count.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Negative Rejection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Qwen-2.5-7B achieves the highest rejection rate, indicating strong safety alignment and a conservative answering strategy.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Mistral-7B rejects inconsistently.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Phi-3.5-Mini frequently attempts to answer even when information is insufficient, increasing hallucination risk.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Information Integration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Mistral-7B outperforms other models in integrating information across multiple documents.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However, absolute accuracy remains low across all models,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suggesting that multi-document reasoning is still a challenging problem for current LLMs.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Counterfactual Robustness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All evaluated models score zero on both error detection and error correction.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This indicates a fundamental limitation: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/>
            </a:pPr>
            <a:r>
              <a:rPr lang="en-US" sz="10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rPr>
              <a:t>	instruction-tuned LLMs do not reliably recognize or resolve contradictions unless explicitly prompted or supported by additional verification mechanisms.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416</Words>
  <Application>Microsoft Office PowerPoint</Application>
  <PresentationFormat>Custom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Liberation Sans</vt:lpstr>
      <vt:lpstr>Liberation Serif</vt:lpstr>
      <vt:lpstr>Default</vt:lpstr>
      <vt:lpstr>Evaluation of RAG Systems  using  the RGB Benchmark</vt:lpstr>
      <vt:lpstr>Objective</vt:lpstr>
      <vt:lpstr>Results</vt:lpstr>
      <vt:lpstr>Results</vt:lpstr>
      <vt:lpstr>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 S S S S Pavankumar Mylavarapu</cp:lastModifiedBy>
  <cp:revision>37</cp:revision>
  <dcterms:created xsi:type="dcterms:W3CDTF">2026-01-18T18:11:54Z</dcterms:created>
  <dcterms:modified xsi:type="dcterms:W3CDTF">2026-01-23T17:14:58Z</dcterms:modified>
</cp:coreProperties>
</file>