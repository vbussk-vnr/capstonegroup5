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46" d="100"/>
          <a:sy n="146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E2B247-ADE2-F793-6ADE-4389BE324C2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71FD12-95AA-EC8E-9CEC-C46779BFEDB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8D42C-005B-387B-549C-11958A0F58E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CFA49-B4EE-5AF1-4A4F-14ECFC9F12F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4402D5C-2786-D944-9381-95F3F812705E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01087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21AEA-6D0B-908A-3EB9-42053C783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C2559-4983-C1F1-BFC9-71F235DCE03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1FE8080-29DD-5F1A-7CCC-ED29A1C1D3A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2AD72-63A6-0F5B-E062-3A20F3F2864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34B55-1AB0-3D45-306E-C057414D3E1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77851-565C-6665-20A6-52DF5ACF5B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636D5D11-7769-BB44-9278-DA72C56EB5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6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oto Sans Devanagar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B9DA4-C329-CC23-4F9A-906FA2E423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249285A-8CB5-B741-9122-3B63F47AA318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09038-1F57-5E0C-60C1-4E15AFEDBA2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AA67D-97EB-3F66-2EFC-ABE0954F15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2C640-DE09-42EB-DE98-14B27B508B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20CFF3D-5E1B-6F45-8DD3-74A0A7D9D03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E4065-FF67-5EB9-5691-2D37303EEF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9AAC0-82B5-D572-CFA6-CB613248CD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79FB-2D25-6857-1E24-E37B91B1EB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C59D18F-51FD-F840-8805-9A1EEFCAE42E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25B3F-E910-5CEB-AF9F-D98C1FBB9A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BD4E6-A803-01F4-5251-F6BF24802C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FB5E9-4E24-E5B1-6D50-C7F70D5DA6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E9F92D-5879-6D4C-A43C-76D06D670E79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DDDCD-0187-C42E-53D6-210EB8DFB3E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B2798-BB1B-0E06-9F68-B584FF013C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8DC66-8536-48D9-73BE-FE711B92A9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3533AEC-2EF7-DE4F-8AD1-AD884676C793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6A269-4046-1B85-C892-118B6D4B872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D4E26-C9D2-EDA1-F00E-114ACEFC8E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EEB5B-07C8-2A34-20AC-8C0D79221F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96040D-DD2F-9149-924A-7E1AC963BCE4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502DC-CC22-5222-9B3D-BC872E4E52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00506-9A2A-C7DD-A6F4-C1FF9ECBC8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4700E-0391-26F9-22E2-ADB06FD9138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05D640-8123-A042-8000-AF5118750BD2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BC354-A555-CCDA-0065-DF56BD4C62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8113-D2BA-1A1D-EB1B-51001EEA62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6A57B-8E94-29DF-CDF5-31EBD4F481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6D1549-3AED-B145-A871-9B1072AA3A29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7E199-8C24-A9C4-2F57-63E51AC2427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24196-7C18-A30B-D7A8-DF28EAF4D6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16EDF-0854-87C9-B9CA-460BDA96E8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3BB6D8E-FF3D-7647-9747-616EFB669470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E0CDF-93FE-450F-3069-47EF430A4DB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54BFF-1DBD-F394-9E1E-B5817D4419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3353F-474E-73A6-BB3E-BAB63F2C2B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8689AD8-C39D-0E48-8AFB-1561A74FA0FD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271C6-3B2F-DCC3-39EE-E9C950BE1C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490E6-8FE6-9203-5EFF-1FFEF54A01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44C1A-35A6-726C-C2A1-A7D80D9474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3BDD349-A0BB-F345-BD4C-4D7A04D78688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8DD6F-6478-59B3-2965-3E53ADA244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25C18-BF31-FCD5-8428-9BD6649C02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29DFF-6E00-A333-3034-725E1BA264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57AB3C0-F281-D749-AFE0-BBE599A75A4A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8AB82-9E65-979D-1903-D2FEC7E2C6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9E3DD-076B-7B64-3A3A-F8717A3898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B6D81-6752-37A8-9F0D-6A6FE881B9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0BA9966-A77F-C744-9F3C-764D82452379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C61B3-C3EE-865F-101C-F3A87CB5E6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91E42-BA25-C8BD-D6EF-17E965F60D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60043-6140-5C07-49DA-BB153428F64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0BB7077-B5E4-BB46-BCE1-B12763D733BB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B9088-24E7-7FA6-B25B-2F0CE0E16A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16CFE-838F-2FC7-C01C-945F73D459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5E50-2819-312D-DF40-49D3C7456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66518-CA39-EEDA-289C-C83586278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305BB-4807-4A2B-50E6-DC7F5E72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2A46-05B2-A4D4-A419-8E707454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D42FE-45BD-65A0-8539-1B96E9DB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055B15-1974-444E-83E8-165797ACE4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9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2662-0E1A-3B86-D91F-EB8DFF46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2A1FE-385D-A43F-5578-2D6D49E8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48D6A-5C10-4D7E-8CF3-8D7E4280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8696F-7509-5DB0-5228-2C43D336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8964C-8DC3-8E8F-CC78-70FC78ED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C1BA79-F6B8-2B4A-BEC0-CDB5766AC5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5C04-EA5E-5E8F-ECEB-BC30DFA5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6BE1E-C629-06CF-7F76-FB8228A69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10D1B-1948-FDA4-496D-363203C1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347A-D500-405F-319F-86512194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9285-3A0F-6A18-801C-6D11D322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048D94-9F8D-E747-848D-BE4B561CD5C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7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7025-6B20-4CF2-A4C2-F022453B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D7B9-EB2A-492F-849B-0C42D56B3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B8C50-EDB8-0354-9E0B-DBBCDF8D1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38278-6D37-9AD0-246A-4A1EA68C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84A52-F796-BC4D-D22C-E9D330EB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ABAE9-E4C3-4BED-3D7B-7C4987B3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AB49DB-7B87-974A-B306-51264C6008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2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246-A452-9CBE-7EFC-2EEE1984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96AF4-C5A7-8DB4-D6F2-E0A8EC50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46098-5C69-824E-2DD7-1B4EF5065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E789E-A94C-C2F2-9C7F-D765F40FD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C1FA1-C19B-E314-8DD9-5F0229A0A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6605A-A64E-5F18-59D6-1283C464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9400F-3A87-27C8-8D5D-360D5C28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AB044A-E2EA-8260-5991-7696BBA7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129094-F18E-0847-9A55-6CFB47A24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8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9B9A-782C-AD87-C475-0F48E63E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9098D-A071-9633-33BE-64C11649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FAF10-D758-9410-7CFC-250DDD8D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BF1D5-9336-0DFE-4179-D702C904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783F5F-3980-4A4A-ACFA-8C6D7A751F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3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B3306-98D3-A41A-6F49-3703C06C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68F56-BBB8-EC7E-0A44-B58746FC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2C7EF-B466-E540-2BED-2A4ABE0B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0FA457-160A-5840-984F-32CE7B4C45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79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34E0-4951-E157-E968-F227C834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5B9A-8C3E-A8D1-BEE7-ACA0FAF92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0A0E0-F774-70F8-D65B-7783A2ABD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DC4FE-0732-DC78-3140-F5BFF4E9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A7D60-3660-CEAD-041B-0334D769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1C983-5359-0399-0F51-51543A13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C12503-AD84-C04B-821F-62C6100E95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C725-006D-AA81-6BD7-26C0E26F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85550-D7BF-21EF-E081-9E681C800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EF0CA-FBA4-73F0-B4FF-80856A96A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CC584-C834-155A-9912-85A71AA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BB6B3-0D42-E3F8-CF72-8BE80514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5161F-268C-F9BF-BBA1-72C76B72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39D539-ECC6-9249-88A9-6353664083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1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7783-C083-4241-4C06-8FB8EE9E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20E6A-E2DC-1819-32FC-AB1984862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3882-61B5-2BB0-2863-5B7CFB3C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941EF-E15F-A911-2199-AB373EFA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DEDB-32BE-0145-3B46-55B013D5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0E7ECB-3F9C-F44B-AA88-FFF0B57F2F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EE06E-9E23-1AC6-D660-06C646604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D26ED-35F4-D75F-7625-E842CEECE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C698F-E042-119F-B6BE-7C78F654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9E6DD-E98C-7F7E-4AD9-0C7B2E17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96D5D-AED7-E528-1877-492051D0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017512-6C64-8342-8EFF-09157BBDE8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4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26195-7398-F62D-EC0D-6D3A963073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F8BD1-EC71-F600-590C-035960AAA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1B49D-D481-B0C3-6ED1-9E876DD9514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7C1E-F622-8F4C-E133-4E06DF454A3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2381-D8C5-E412-271D-135E198062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11930388-5A9E-B34A-8D43-FE47073D25F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istralai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FADA-50AA-EB95-962D-5CAA338287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769680"/>
            <a:ext cx="9071640" cy="1875239"/>
          </a:xfrm>
        </p:spPr>
        <p:txBody>
          <a:bodyPr vert="horz"/>
          <a:lstStyle/>
          <a:p>
            <a:pPr lvl="0" rtl="0"/>
            <a:r>
              <a:rPr lang="en-US" b="1"/>
              <a:t>Evaluation of RAG Systems </a:t>
            </a:r>
            <a:br>
              <a:rPr lang="en-US" b="1"/>
            </a:br>
            <a:r>
              <a:rPr lang="en-US" b="1"/>
              <a:t>using </a:t>
            </a:r>
            <a:br>
              <a:rPr lang="en-US" b="1"/>
            </a:br>
            <a:r>
              <a:rPr lang="en-US" b="1"/>
              <a:t>the RGB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524E-C47D-0AFB-3C0E-F98ABA8BA6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38A26-A253-8876-F36D-BCC4519100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/>
              <a:t>RAG systems rely on external documents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Documents can be noisy or contradictory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Hallucinations are a major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90ED-B2B1-CDE4-8898-14A6214653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60" y="228600"/>
            <a:ext cx="9071640" cy="946440"/>
          </a:xfrm>
        </p:spPr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What is RGB?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C018E-C946-ABDE-8A4E-EE2D6D519F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/>
              <a:t>Benchmark for RAG robustness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Evaluates realistic failure scenarios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Focuses on </a:t>
            </a:r>
            <a:r>
              <a:rPr lang="en-US" i="1"/>
              <a:t>behavior</a:t>
            </a:r>
            <a:r>
              <a:rPr lang="en-US"/>
              <a:t>, not just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257B-96D7-EE68-934D-20B52894B6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8600"/>
            <a:ext cx="9071640" cy="946440"/>
          </a:xfrm>
        </p:spPr>
        <p:txBody>
          <a:bodyPr vert="horz"/>
          <a:lstStyle/>
          <a:p>
            <a:pPr lvl="2" algn="ctr" rtl="0" hangingPunct="0"/>
            <a:r>
              <a:rPr lang="en-US" sz="44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Models Evaluated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E9FC8-A1E4-6574-65CE-6E1F374D4A2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r>
              <a:rPr lang="en-US" sz="1200"/>
              <a:t>We evaluate three instruction-tuned open-source LLMs without fine-tuning: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Phi-3.5-Mini-Instruct</a:t>
            </a:r>
            <a:r>
              <a:rPr lang="en-US" sz="1200"/>
              <a:t> (~3.8B parameters)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Qwen-2.5-7B-Instruct</a:t>
            </a:r>
            <a:r>
              <a:rPr lang="en-US" sz="1200"/>
              <a:t> (7B parameters)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Mistral-7B-Instruct-v0.3</a:t>
            </a:r>
            <a:r>
              <a:rPr lang="en-US" sz="1200"/>
              <a:t> (7B parameters)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3C97-AB28-EE93-639D-3CC60B2AAA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RGB Capabilities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A2041-4220-3EB3-BBAB-CBB2FC0D74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r>
              <a:rPr lang="en-US" sz="1200"/>
              <a:t>The RGB benchmark evaluates four robustness dimensions: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Noise Robustness:</a:t>
            </a:r>
            <a:r>
              <a:rPr lang="en-US" sz="1200"/>
              <a:t> Accuracy under increasing irrelevant document noise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Negative Rejection:</a:t>
            </a:r>
            <a:r>
              <a:rPr lang="en-US" sz="1200"/>
              <a:t> Ability to abstain when information is insufficient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Information Integration:</a:t>
            </a:r>
            <a:r>
              <a:rPr lang="en-US" sz="1200"/>
              <a:t> Ability to combine evidence from multiple documents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1200" b="1"/>
              <a:t>Counterfactual Robustness:</a:t>
            </a:r>
            <a:r>
              <a:rPr lang="en-US" sz="1200"/>
              <a:t> Ability to detect and correct contradictory facts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43A3-9280-F8F4-8384-9F24BE3845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EE738-59A7-B864-8CD1-BF4D4E94D8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/>
              <a:t>Zero-shot evaluation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Fixed prompts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Google Colab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EC13-2414-93B2-9058-8B2E47CF45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Noise Robustness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067A2-4BF1-E32A-7D15-CDD3B98DF5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9560" y="1326600"/>
            <a:ext cx="9071640" cy="3288240"/>
          </a:xfrm>
        </p:spPr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 sz="2200"/>
              <a:t>Mistral strongest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2200"/>
              <a:t>Qwen close behind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2200"/>
              <a:t>Phi drops faster with noise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AFE3812F-576A-56B7-A1BA-FF51667A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364640" y="1143000"/>
            <a:ext cx="544572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C2DB-4B5E-CBB7-1F19-CADCC557B8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Negative Rejection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6E00B-6018-8398-75C7-888CD2BB92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 sz="2200"/>
              <a:t>Qwen best at rejecting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2200"/>
              <a:t>Mistral / Phi most prone to hallucination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D6E8DB6-04C4-7F13-98FD-7E198D408B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329800" y="1371600"/>
            <a:ext cx="4583880" cy="4019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7320-1DB5-A267-EE5A-4A3A1C9FB2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Information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90855-80E5-C8D8-D036-CF47C6EA93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/>
              <a:t>All models struggle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Mistral performs best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32B15105-D892-85E3-268A-497DD12C00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38960" y="1022400"/>
            <a:ext cx="5190840" cy="447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05F6-94F1-752B-882F-5D6E503292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Counterfactual Robustness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6CEFA-147D-C322-4237-BB9B37D5C9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/>
              <a:t>All models score 0.0  ~0.01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/>
              <a:t>No contradiction detection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CB795FAA-E2F9-7D30-80D4-EB2818EEB5E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646960" y="2153160"/>
            <a:ext cx="4411440" cy="3333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67E4-1E2B-C10A-693F-72FA77D209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ctr" rtl="0" hangingPunct="0"/>
            <a:r>
              <a:rPr lang="en-US" sz="4200" b="1" kern="1200">
                <a:highlight>
                  <a:scrgbClr r="0" g="0" b="0">
                    <a:alpha val="0"/>
                  </a:scrgbClr>
                </a:highlight>
                <a:latin typeface="Liberation Serif" pitchFamily="18"/>
              </a:rPr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EC467-04A0-3114-F71D-29276C7268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172520"/>
            <a:ext cx="4343400" cy="1799280"/>
          </a:xfrm>
        </p:spPr>
        <p:txBody>
          <a:bodyPr vert="horz"/>
          <a:lstStyle/>
          <a:p>
            <a:pPr marL="450359" lvl="0" indent="-179640" rtl="0">
              <a:tabLst>
                <a:tab pos="900718" algn="l"/>
              </a:tabLst>
            </a:pPr>
            <a:r>
              <a:rPr lang="en-US" sz="2800"/>
              <a:t>Strong noise tolerance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2800"/>
              <a:t>Weak factual verification</a:t>
            </a:r>
          </a:p>
          <a:p>
            <a:pPr marL="450359" lvl="0" indent="-179640" rtl="0">
              <a:tabLst>
                <a:tab pos="900718" algn="l"/>
              </a:tabLst>
            </a:pPr>
            <a:r>
              <a:rPr lang="en-US" sz="2800"/>
              <a:t>Counterfactual reasoning unsolved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10697CA-8094-3AF5-08F2-5F18F94C973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5000" y="1143000"/>
            <a:ext cx="4206240" cy="249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98A41949-A8E6-2B6C-D419-B44E4394A2C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79920" y="4114800"/>
            <a:ext cx="7049879" cy="122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C47265D9-31D2-74B1-E05B-341FED589A2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279" y="3272400"/>
            <a:ext cx="891792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7E972-FD6F-E2C9-8B00-80CEE63F5D74}"/>
              </a:ext>
            </a:extLst>
          </p:cNvPr>
          <p:cNvSpPr txBox="1"/>
          <p:nvPr/>
        </p:nvSpPr>
        <p:spPr>
          <a:xfrm>
            <a:off x="457200" y="228600"/>
            <a:ext cx="264564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Analysis and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FC806-9463-8F20-615B-248A8BD57C3E}"/>
              </a:ext>
            </a:extLst>
          </p:cNvPr>
          <p:cNvSpPr txBox="1"/>
          <p:nvPr/>
        </p:nvSpPr>
        <p:spPr>
          <a:xfrm>
            <a:off x="349200" y="493200"/>
            <a:ext cx="9372600" cy="27853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Noise Robustness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Mistral-7B demonstrates the strongest robustness to noisy contexts, maintaining high accuracy even when up to 80% of the documents are irrelevant.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Qwen-2.5-7B also performs well but shows slightly greater degradation.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Phi-3.5-Mini is more sensitive to noise, likely due to its smaller parameter count.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Negative Rejection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Qwen-2.5-7B achieves the highest rejection rate, indicating strong safety alignment and a conservative answering strategy.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Mistral-7B rejects inconsistently.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Phi-3.5-Mini frequently attempts to answer even when information is insufficient, increasing hallucination risk.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Information Integration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Mistral-7B outperforms other models in integrating information across multiple documents.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However, absolute accuracy remains low across all models,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suggesting that multi-document reasoning is still a challenging problem for current LLMs.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Counterfactual Robustness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All evaluated models score zero on both error detection and error correction.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This indicates a fundamental limitation: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instruction-tuned LLMs do not reliably recognize or resolve contradictions unless explicitly prompted or supported by additional verification mechanisms.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65FB-6BAA-9D70-2E5B-E5D802E576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>
              <a:spcBef>
                <a:spcPts val="1417"/>
              </a:spcBef>
            </a:pPr>
            <a:r>
              <a:rPr lang="en-US" b="1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2CA5F-6EA9-7612-0184-416B554209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endParaRPr lang="en-US" b="1"/>
          </a:p>
          <a:p>
            <a:pPr lvl="0" rtl="0"/>
            <a:r>
              <a:rPr lang="en-US"/>
              <a:t>This is to demonstrates that modern open-source LLMs exhibit strong robustness to noisy and incomplete information in RAG settings, particularly Mistral-7B and Qwen-2.5-7B.</a:t>
            </a:r>
          </a:p>
          <a:p>
            <a:pPr lvl="0" rtl="0"/>
            <a:r>
              <a:rPr lang="en-US"/>
              <a:t>However, all evaluated models fail to achieve counterfactual robustness, highlighting a significant unresolved challenge.</a:t>
            </a:r>
          </a:p>
          <a:p>
            <a:pPr lvl="0" rtl="0"/>
            <a:r>
              <a:rPr lang="en-US"/>
              <a:t>Addressing factual inconsistency detection and correction is essential for deploying reliable and trustworthy RAG systems in real-world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46F0-C647-581B-5B79-6E31289F8D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 sz="3600" b="1">
                <a:latin typeface="Liberation Serif" pitchFamily="18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D037B-76B8-9CA4-1976-350AB1D1E6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marL="0" lvl="1" indent="0" hangingPunct="0">
              <a:spcBef>
                <a:spcPts val="1417"/>
              </a:spcBef>
              <a:buNone/>
            </a:pPr>
            <a:endParaRPr lang="en-US" sz="3600">
              <a:highlight>
                <a:scrgbClr r="0" g="0" b="0">
                  <a:alpha val="0"/>
                </a:scrgbClr>
              </a:highlight>
              <a:latin typeface="Liberation Sans" pitchFamily="18"/>
              <a:cs typeface="Noto Sans Devanagari" pitchFamily="2"/>
            </a:endParaRPr>
          </a:p>
          <a:p>
            <a:pPr lvl="0" rtl="0"/>
            <a:r>
              <a:rPr lang="en-US"/>
              <a:t>[1] T. Chen et al., “RGB: A Robustness Benchmark for Retrieval-Augmented Generation,” </a:t>
            </a:r>
            <a:r>
              <a:rPr lang="en-US" i="1"/>
              <a:t>arXiv preprint arXiv:2309.01431</a:t>
            </a:r>
            <a:r>
              <a:rPr lang="en-US"/>
              <a:t>, 2023.</a:t>
            </a:r>
          </a:p>
          <a:p>
            <a:pPr lvl="0" rtl="0"/>
            <a:r>
              <a:rPr lang="en-US"/>
              <a:t>[2] P. Lewis et al., “Retrieval-Augmented Generation for Knowledge-Intensive NLP Tasks,” </a:t>
            </a:r>
            <a:r>
              <a:rPr lang="en-US" i="1"/>
              <a:t>Advances in Neural Information Processing Systems (NeurIPS)</a:t>
            </a:r>
            <a:r>
              <a:rPr lang="en-US"/>
              <a:t>, 2020.</a:t>
            </a:r>
          </a:p>
          <a:p>
            <a:pPr lvl="0" rtl="0"/>
            <a:r>
              <a:rPr lang="en-US"/>
              <a:t>[3] J. Wei et al., “Chain-of-Thought Prompting Elicits Reasoning in Large Language Models,” </a:t>
            </a:r>
            <a:r>
              <a:rPr lang="en-US" i="1"/>
              <a:t>NeurIPS</a:t>
            </a:r>
            <a:r>
              <a:rPr lang="en-US"/>
              <a:t>, 2022.</a:t>
            </a:r>
          </a:p>
          <a:p>
            <a:pPr lvl="0" rtl="0"/>
            <a:r>
              <a:rPr lang="en-US"/>
              <a:t>[4] Hugging Face, “Transformers Library,” https://huggingface.co/docs/transformers</a:t>
            </a:r>
          </a:p>
          <a:p>
            <a:pPr lvl="0" rtl="0"/>
            <a:r>
              <a:rPr lang="en-US"/>
              <a:t>[5] Mistral AI, “Mistral-7B Model Card,” </a:t>
            </a:r>
            <a:r>
              <a:rPr lang="en-US" u="sng">
                <a:solidFill>
                  <a:srgbClr val="00008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https://huggingface.co/mistralai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559</Words>
  <Application>Microsoft Macintosh PowerPoint</Application>
  <PresentationFormat>Widescreen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Liberation Sans</vt:lpstr>
      <vt:lpstr>Liberation Serif</vt:lpstr>
      <vt:lpstr>Default</vt:lpstr>
      <vt:lpstr>Evaluation of RAG Systems  using  the RGB Benchmark</vt:lpstr>
      <vt:lpstr>Motivation</vt:lpstr>
      <vt:lpstr>What is RGB?</vt:lpstr>
      <vt:lpstr>Models Evaluated</vt:lpstr>
      <vt:lpstr>RGB Capabilities</vt:lpstr>
      <vt:lpstr>Experimental Setup</vt:lpstr>
      <vt:lpstr>Noise Robustness Results</vt:lpstr>
      <vt:lpstr>Negative Rejection</vt:lpstr>
      <vt:lpstr>Information Integration</vt:lpstr>
      <vt:lpstr>Counterfactual Robustness</vt:lpstr>
      <vt:lpstr>Key Takeaways</vt:lpstr>
      <vt:lpstr>PowerPoint Presentation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Vikram Upadhyaya</cp:lastModifiedBy>
  <cp:revision>14</cp:revision>
  <dcterms:created xsi:type="dcterms:W3CDTF">2026-01-18T18:11:54Z</dcterms:created>
  <dcterms:modified xsi:type="dcterms:W3CDTF">2026-01-23T12:45:50Z</dcterms:modified>
</cp:coreProperties>
</file>